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embeddedFontLst>
    <p:embeddedFont>
      <p:font typeface="Maven Pro" panose="020B0604020202020204" charset="0"/>
      <p:regular r:id="rId17"/>
      <p:bold r:id="rId18"/>
    </p:embeddedFont>
    <p:embeddedFont>
      <p:font typeface="Nunito"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226" y="-6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46206c0069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46206c0069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46206c0069_0_2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46206c0069_0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46206c0069_0_2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46206c0069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46206c0069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46206c0069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46206c0069_0_3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346206c0069_0_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46206c0069_0_3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46206c0069_0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46206c0069_0_3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346206c0069_0_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46206c0069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46206c0069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3e2359c815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3e2359c81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3e2359c815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33e2359c81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46285609d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46285609d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46285609dd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46285609dd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46285609dd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346285609d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vi"/>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824000" y="384730"/>
            <a:ext cx="4255500" cy="1380000"/>
          </a:xfrm>
          <a:prstGeom prst="rect">
            <a:avLst/>
          </a:prstGeom>
        </p:spPr>
        <p:txBody>
          <a:bodyPr spcFirstLastPara="1" wrap="square" lIns="91425" tIns="91425" rIns="91425" bIns="91425" anchor="ctr" anchorCtr="0">
            <a:normAutofit/>
          </a:bodyPr>
          <a:lstStyle/>
          <a:p>
            <a:pPr marL="0" lvl="0" indent="0" algn="l" rtl="0">
              <a:lnSpc>
                <a:spcPct val="115000"/>
              </a:lnSpc>
              <a:spcBef>
                <a:spcPts val="0"/>
              </a:spcBef>
              <a:spcAft>
                <a:spcPts val="0"/>
              </a:spcAft>
              <a:buNone/>
            </a:pPr>
            <a:r>
              <a:rPr lang="vi" sz="2400">
                <a:solidFill>
                  <a:srgbClr val="000000"/>
                </a:solidFill>
                <a:latin typeface="Arial"/>
                <a:ea typeface="Arial"/>
                <a:cs typeface="Arial"/>
                <a:sym typeface="Arial"/>
              </a:rPr>
              <a:t>Đề tài: </a:t>
            </a:r>
            <a:endParaRPr sz="2400">
              <a:solidFill>
                <a:srgbClr val="000000"/>
              </a:solidFill>
              <a:latin typeface="Arial"/>
              <a:ea typeface="Arial"/>
              <a:cs typeface="Arial"/>
              <a:sym typeface="Arial"/>
            </a:endParaRPr>
          </a:p>
          <a:p>
            <a:pPr marL="0" lvl="0" indent="0" algn="l" rtl="0">
              <a:lnSpc>
                <a:spcPct val="115000"/>
              </a:lnSpc>
              <a:spcBef>
                <a:spcPts val="0"/>
              </a:spcBef>
              <a:spcAft>
                <a:spcPts val="0"/>
              </a:spcAft>
              <a:buNone/>
            </a:pPr>
            <a:r>
              <a:rPr lang="vi" sz="2200">
                <a:solidFill>
                  <a:srgbClr val="000000"/>
                </a:solidFill>
                <a:latin typeface="Arial"/>
                <a:ea typeface="Arial"/>
                <a:cs typeface="Arial"/>
                <a:sym typeface="Arial"/>
              </a:rPr>
              <a:t>GAME VÒNG QUAY MAY MẮN</a:t>
            </a:r>
            <a:endParaRPr sz="3400"/>
          </a:p>
        </p:txBody>
      </p:sp>
      <p:sp>
        <p:nvSpPr>
          <p:cNvPr id="278" name="Google Shape;278;p13"/>
          <p:cNvSpPr txBox="1">
            <a:spLocks noGrp="1"/>
          </p:cNvSpPr>
          <p:nvPr>
            <p:ph type="subTitle" idx="1"/>
          </p:nvPr>
        </p:nvSpPr>
        <p:spPr>
          <a:xfrm>
            <a:off x="824000" y="1662450"/>
            <a:ext cx="4255500" cy="3150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dirty="0"/>
              <a:t>Giáo viên hướng dẫn: Bùi Dương Thế</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vi" dirty="0"/>
              <a:t>Nhóm </a:t>
            </a:r>
            <a:r>
              <a:rPr lang="vi-VN" dirty="0"/>
              <a:t>10</a:t>
            </a:r>
            <a:r>
              <a:rPr lang="vi" dirty="0"/>
              <a:t> - Thành viên: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vi-VN" dirty="0"/>
              <a:t>2331120013</a:t>
            </a:r>
            <a:r>
              <a:rPr lang="vi" dirty="0"/>
              <a:t> – </a:t>
            </a:r>
            <a:r>
              <a:rPr lang="vi-VN" dirty="0"/>
              <a:t>Huỳnh Thiện Nhân</a:t>
            </a:r>
            <a:endParaRPr dirty="0"/>
          </a:p>
          <a:p>
            <a:pPr marL="0" lvl="0" indent="0"/>
            <a:r>
              <a:rPr lang="vi-VN" dirty="0"/>
              <a:t>2331121007</a:t>
            </a:r>
            <a:r>
              <a:rPr lang="vi" dirty="0"/>
              <a:t> - </a:t>
            </a:r>
            <a:r>
              <a:rPr lang="en-US" dirty="0"/>
              <a:t>Bùi </a:t>
            </a:r>
            <a:r>
              <a:rPr lang="en-US" dirty="0" err="1"/>
              <a:t>Đình</a:t>
            </a:r>
            <a:r>
              <a:rPr lang="en-US" dirty="0"/>
              <a:t> </a:t>
            </a:r>
            <a:r>
              <a:rPr lang="en-US" dirty="0" err="1"/>
              <a:t>Chiến</a:t>
            </a:r>
            <a:endParaRPr dirty="0"/>
          </a:p>
          <a:p>
            <a:pPr marL="0" lvl="0" indent="0"/>
            <a:r>
              <a:rPr lang="vi-VN" dirty="0"/>
              <a:t>2431122003</a:t>
            </a:r>
            <a:r>
              <a:rPr lang="vi" dirty="0"/>
              <a:t> - </a:t>
            </a:r>
            <a:r>
              <a:rPr lang="vi-VN" dirty="0"/>
              <a:t>Nguyễn Vương Tâm</a:t>
            </a:r>
            <a:endParaRPr dirty="0"/>
          </a:p>
          <a:p>
            <a:pPr marL="0" lvl="0" indent="0"/>
            <a:r>
              <a:rPr lang="vi-VN" dirty="0"/>
              <a:t>2331121056</a:t>
            </a:r>
            <a:r>
              <a:rPr lang="vi" dirty="0"/>
              <a:t> - </a:t>
            </a:r>
            <a:r>
              <a:rPr lang="en-US" dirty="0"/>
              <a:t>Bùi Thị Thảo Nguyên</a:t>
            </a:r>
            <a:endParaRPr dirty="0"/>
          </a:p>
          <a:p>
            <a:pPr marL="0" lvl="0" indent="0" algn="l" rtl="0">
              <a:spcBef>
                <a:spcPts val="0"/>
              </a:spcBef>
              <a:spcAft>
                <a:spcPts val="0"/>
              </a:spcAft>
              <a:buNone/>
            </a:pPr>
            <a:r>
              <a:rPr lang="vi-VN" dirty="0"/>
              <a:t>2431121029</a:t>
            </a:r>
            <a:r>
              <a:rPr lang="vi" dirty="0"/>
              <a:t> - Trương </a:t>
            </a:r>
            <a:r>
              <a:rPr lang="vi-VN" dirty="0"/>
              <a:t>Huỳnh Viên</a:t>
            </a:r>
            <a:endParaRPr dirty="0"/>
          </a:p>
        </p:txBody>
      </p:sp>
      <p:pic>
        <p:nvPicPr>
          <p:cNvPr id="279" name="Google Shape;279;p13"/>
          <p:cNvPicPr preferRelativeResize="0"/>
          <p:nvPr/>
        </p:nvPicPr>
        <p:blipFill>
          <a:blip r:embed="rId3">
            <a:alphaModFix/>
          </a:blip>
          <a:stretch>
            <a:fillRect/>
          </a:stretch>
        </p:blipFill>
        <p:spPr>
          <a:xfrm>
            <a:off x="5079500" y="1107575"/>
            <a:ext cx="3818050" cy="2822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4"/>
          <p:cNvSpPr txBox="1">
            <a:spLocks noGrp="1"/>
          </p:cNvSpPr>
          <p:nvPr>
            <p:ph type="title"/>
          </p:nvPr>
        </p:nvSpPr>
        <p:spPr>
          <a:xfrm>
            <a:off x="1303800" y="598575"/>
            <a:ext cx="7030500" cy="515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t>Giới thiệu về vòng quay may mắn</a:t>
            </a:r>
            <a:endParaRPr/>
          </a:p>
        </p:txBody>
      </p:sp>
      <p:sp>
        <p:nvSpPr>
          <p:cNvPr id="285" name="Google Shape;285;p14"/>
          <p:cNvSpPr txBox="1">
            <a:spLocks noGrp="1"/>
          </p:cNvSpPr>
          <p:nvPr>
            <p:ph type="body" idx="1"/>
          </p:nvPr>
        </p:nvSpPr>
        <p:spPr>
          <a:xfrm>
            <a:off x="1303800" y="1281450"/>
            <a:ext cx="7030500" cy="19005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vi"/>
              <a:t>Dự án "Vòng quay may mắn" là một ứng dụng đơn giản trên nền tảng website HTML, cho phép người chơi tham gia quay số để trúng thưởng. </a:t>
            </a:r>
            <a:endParaRPr/>
          </a:p>
          <a:p>
            <a:pPr marL="0" lvl="0" indent="0" algn="l" rtl="0">
              <a:spcBef>
                <a:spcPts val="1200"/>
              </a:spcBef>
              <a:spcAft>
                <a:spcPts val="0"/>
              </a:spcAft>
              <a:buNone/>
            </a:pPr>
            <a:r>
              <a:rPr lang="vi"/>
              <a:t>Đây là một giải pháp thú vị giúp tạo sự hào hứng cho người tham gia, đặc biệt phù hợp với các chương trình khuyến mãi, sự kiện hoặc hoạt động giải trí trực tuyến. </a:t>
            </a:r>
            <a:endParaRPr/>
          </a:p>
          <a:p>
            <a:pPr marL="0" lvl="0" indent="0" algn="l" rtl="0">
              <a:spcBef>
                <a:spcPts val="1200"/>
              </a:spcBef>
              <a:spcAft>
                <a:spcPts val="1200"/>
              </a:spcAft>
              <a:buNone/>
            </a:pPr>
            <a:r>
              <a:rPr lang="vi"/>
              <a:t>Ứng dụng đảm bảo rằng mỗi người chơi đều có cơ hội trúng thưởng, với cơ chế có thể kiểm soát được kết quả quay.</a:t>
            </a:r>
            <a:endParaRPr/>
          </a:p>
        </p:txBody>
      </p:sp>
      <p:pic>
        <p:nvPicPr>
          <p:cNvPr id="286" name="Google Shape;286;p14"/>
          <p:cNvPicPr preferRelativeResize="0"/>
          <p:nvPr/>
        </p:nvPicPr>
        <p:blipFill>
          <a:blip r:embed="rId3">
            <a:alphaModFix/>
          </a:blip>
          <a:stretch>
            <a:fillRect/>
          </a:stretch>
        </p:blipFill>
        <p:spPr>
          <a:xfrm>
            <a:off x="3236163" y="3181950"/>
            <a:ext cx="3165765" cy="1656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5"/>
          <p:cNvSpPr txBox="1">
            <a:spLocks noGrp="1"/>
          </p:cNvSpPr>
          <p:nvPr>
            <p:ph type="title"/>
          </p:nvPr>
        </p:nvSpPr>
        <p:spPr>
          <a:xfrm>
            <a:off x="1303800" y="598575"/>
            <a:ext cx="7030500" cy="515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t>Mục tiêu của dự án</a:t>
            </a:r>
            <a:endParaRPr/>
          </a:p>
        </p:txBody>
      </p:sp>
      <p:sp>
        <p:nvSpPr>
          <p:cNvPr id="292" name="Google Shape;292;p15"/>
          <p:cNvSpPr txBox="1">
            <a:spLocks noGrp="1"/>
          </p:cNvSpPr>
          <p:nvPr>
            <p:ph type="body" idx="1"/>
          </p:nvPr>
        </p:nvSpPr>
        <p:spPr>
          <a:xfrm>
            <a:off x="1303800" y="1281450"/>
            <a:ext cx="4239000" cy="3452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vi"/>
              <a:t>Dự án hướng đến việc tạo ra một công cụ quay số có hai chế độ hoạt động:</a:t>
            </a:r>
            <a:endParaRPr/>
          </a:p>
          <a:p>
            <a:pPr marL="457200" lvl="0" indent="-298450" algn="l" rtl="0">
              <a:spcBef>
                <a:spcPts val="1200"/>
              </a:spcBef>
              <a:spcAft>
                <a:spcPts val="0"/>
              </a:spcAft>
              <a:buClr>
                <a:srgbClr val="000000"/>
              </a:buClr>
              <a:buSzPts val="1100"/>
              <a:buFont typeface="Arial"/>
              <a:buChar char="●"/>
            </a:pPr>
            <a:r>
              <a:rPr lang="vi"/>
              <a:t>Chế độ ngẫu nhiên: Vòng quay dừng tại một giải thưởng bất kỳ.</a:t>
            </a:r>
            <a:br>
              <a:rPr lang="vi"/>
            </a:br>
            <a:endParaRPr/>
          </a:p>
          <a:p>
            <a:pPr marL="457200" lvl="0" indent="-298450" algn="l" rtl="0">
              <a:spcBef>
                <a:spcPts val="0"/>
              </a:spcBef>
              <a:spcAft>
                <a:spcPts val="0"/>
              </a:spcAft>
              <a:buClr>
                <a:srgbClr val="000000"/>
              </a:buClr>
              <a:buSzPts val="1100"/>
              <a:buFont typeface="Arial"/>
              <a:buChar char="●"/>
            </a:pPr>
            <a:r>
              <a:rPr lang="vi"/>
              <a:t>Chế độ có kiểm soát: Quản trị viên có thể chỉ định người chơi nào sẽ trúng giải nào.</a:t>
            </a:r>
            <a:br>
              <a:rPr lang="vi"/>
            </a:br>
            <a:endParaRPr/>
          </a:p>
          <a:p>
            <a:pPr marL="0" lvl="0" indent="0" algn="l" rtl="0">
              <a:spcBef>
                <a:spcPts val="1200"/>
              </a:spcBef>
              <a:spcAft>
                <a:spcPts val="1200"/>
              </a:spcAft>
              <a:buNone/>
            </a:pPr>
            <a:r>
              <a:rPr lang="vi"/>
              <a:t>Một điểm quan trọng của ứng dụng là đảm bảo 100% người chơi đều trúng thưởng, tránh trường hợp người chơi không nhận được bất kỳ phần quà nào.</a:t>
            </a:r>
            <a:endParaRPr/>
          </a:p>
        </p:txBody>
      </p:sp>
      <p:pic>
        <p:nvPicPr>
          <p:cNvPr id="293" name="Google Shape;293;p15"/>
          <p:cNvPicPr preferRelativeResize="0"/>
          <p:nvPr/>
        </p:nvPicPr>
        <p:blipFill>
          <a:blip r:embed="rId3">
            <a:alphaModFix/>
          </a:blip>
          <a:stretch>
            <a:fillRect/>
          </a:stretch>
        </p:blipFill>
        <p:spPr>
          <a:xfrm>
            <a:off x="5542800" y="1588100"/>
            <a:ext cx="3471925" cy="2337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6"/>
          <p:cNvSpPr txBox="1">
            <a:spLocks noGrp="1"/>
          </p:cNvSpPr>
          <p:nvPr>
            <p:ph type="title"/>
          </p:nvPr>
        </p:nvSpPr>
        <p:spPr>
          <a:xfrm>
            <a:off x="1303800" y="598575"/>
            <a:ext cx="7030500" cy="515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t>Quy trình thực hiện</a:t>
            </a:r>
            <a:endParaRPr/>
          </a:p>
        </p:txBody>
      </p:sp>
      <p:sp>
        <p:nvSpPr>
          <p:cNvPr id="299" name="Google Shape;299;p16"/>
          <p:cNvSpPr txBox="1">
            <a:spLocks noGrp="1"/>
          </p:cNvSpPr>
          <p:nvPr>
            <p:ph type="body" idx="1"/>
          </p:nvPr>
        </p:nvSpPr>
        <p:spPr>
          <a:xfrm>
            <a:off x="1303800" y="1281450"/>
            <a:ext cx="4239000" cy="3452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vi"/>
              <a:t>Thiết kế giao diện: Xây dựng một giao diện trực quan, dễ sử dụng, mô phỏng một vòng quay thực tế.</a:t>
            </a:r>
            <a:endParaRPr/>
          </a:p>
          <a:p>
            <a:pPr marL="0" lvl="0" indent="0" algn="l" rtl="0">
              <a:spcBef>
                <a:spcPts val="1200"/>
              </a:spcBef>
              <a:spcAft>
                <a:spcPts val="0"/>
              </a:spcAft>
              <a:buNone/>
            </a:pPr>
            <a:endParaRPr/>
          </a:p>
          <a:p>
            <a:pPr marL="0" lvl="0" indent="0" algn="l" rtl="0">
              <a:spcBef>
                <a:spcPts val="1200"/>
              </a:spcBef>
              <a:spcAft>
                <a:spcPts val="0"/>
              </a:spcAft>
              <a:buNone/>
            </a:pPr>
            <a:r>
              <a:rPr lang="vi"/>
              <a:t>Lập trình chức năng quay số: Viết mã JavaScript để vòng quay hoạt động theo cơ chế ngẫu nhiên hoặc theo chỉ định.</a:t>
            </a:r>
            <a:endParaRPr/>
          </a:p>
          <a:p>
            <a:pPr marL="0" lvl="0" indent="0" algn="l" rtl="0">
              <a:spcBef>
                <a:spcPts val="1200"/>
              </a:spcBef>
              <a:spcAft>
                <a:spcPts val="0"/>
              </a:spcAft>
              <a:buNone/>
            </a:pPr>
            <a:endParaRPr/>
          </a:p>
          <a:p>
            <a:pPr marL="0" lvl="0" indent="0" algn="l" rtl="0">
              <a:spcBef>
                <a:spcPts val="1200"/>
              </a:spcBef>
              <a:spcAft>
                <a:spcPts val="1200"/>
              </a:spcAft>
              <a:buNone/>
            </a:pPr>
            <a:r>
              <a:rPr lang="vi"/>
              <a:t>Kiểm thử và hoàn thiện: Chạy thử nhiều lần để kiểm tra tính chính xác và tính ổn định của ứng dụng.</a:t>
            </a:r>
            <a:endParaRPr/>
          </a:p>
        </p:txBody>
      </p:sp>
      <p:pic>
        <p:nvPicPr>
          <p:cNvPr id="300" name="Google Shape;300;p16"/>
          <p:cNvPicPr preferRelativeResize="0"/>
          <p:nvPr/>
        </p:nvPicPr>
        <p:blipFill>
          <a:blip r:embed="rId3">
            <a:alphaModFix/>
          </a:blip>
          <a:stretch>
            <a:fillRect/>
          </a:stretch>
        </p:blipFill>
        <p:spPr>
          <a:xfrm>
            <a:off x="5704525" y="1360800"/>
            <a:ext cx="3276374" cy="2421900"/>
          </a:xfrm>
          <a:prstGeom prst="rect">
            <a:avLst/>
          </a:prstGeom>
          <a:noFill/>
          <a:ln>
            <a:noFill/>
          </a:ln>
        </p:spPr>
      </p:pic>
      <p:sp>
        <p:nvSpPr>
          <p:cNvPr id="301" name="Google Shape;301;p16"/>
          <p:cNvSpPr txBox="1"/>
          <p:nvPr/>
        </p:nvSpPr>
        <p:spPr>
          <a:xfrm>
            <a:off x="6383850" y="4032100"/>
            <a:ext cx="2095500" cy="15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vi" sz="1000" i="1">
                <a:solidFill>
                  <a:schemeClr val="dk2"/>
                </a:solidFill>
                <a:latin typeface="Nunito"/>
                <a:ea typeface="Nunito"/>
                <a:cs typeface="Nunito"/>
                <a:sym typeface="Nunito"/>
              </a:rPr>
              <a:t>Giao diện ứng dụng thực tế</a:t>
            </a:r>
            <a:endParaRPr sz="1000" i="1">
              <a:solidFill>
                <a:schemeClr val="dk2"/>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515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t>Kết quả đạt được</a:t>
            </a:r>
            <a:endParaRPr/>
          </a:p>
        </p:txBody>
      </p:sp>
      <p:sp>
        <p:nvSpPr>
          <p:cNvPr id="307" name="Google Shape;307;p17"/>
          <p:cNvSpPr txBox="1">
            <a:spLocks noGrp="1"/>
          </p:cNvSpPr>
          <p:nvPr>
            <p:ph type="body" idx="1"/>
          </p:nvPr>
        </p:nvSpPr>
        <p:spPr>
          <a:xfrm>
            <a:off x="1303800" y="1281450"/>
            <a:ext cx="7514700" cy="1290300"/>
          </a:xfrm>
          <a:prstGeom prst="rect">
            <a:avLst/>
          </a:prstGeom>
        </p:spPr>
        <p:txBody>
          <a:bodyPr spcFirstLastPara="1" wrap="square" lIns="91425" tIns="91425" rIns="91425" bIns="91425" anchor="t" anchorCtr="0">
            <a:normAutofit lnSpcReduction="10000"/>
          </a:bodyPr>
          <a:lstStyle/>
          <a:p>
            <a:pPr marL="0" lvl="0" indent="0" algn="l" rtl="0">
              <a:spcBef>
                <a:spcPts val="1200"/>
              </a:spcBef>
              <a:spcAft>
                <a:spcPts val="0"/>
              </a:spcAft>
              <a:buNone/>
            </a:pPr>
            <a:r>
              <a:rPr lang="vi"/>
              <a:t>Hoàn thành giao diện vòng quay với tám phần quà có thể trúng thưởng.</a:t>
            </a:r>
            <a:endParaRPr/>
          </a:p>
          <a:p>
            <a:pPr marL="0" lvl="0" indent="0" algn="l" rtl="0">
              <a:spcBef>
                <a:spcPts val="1200"/>
              </a:spcBef>
              <a:spcAft>
                <a:spcPts val="0"/>
              </a:spcAft>
              <a:buNone/>
            </a:pPr>
            <a:r>
              <a:rPr lang="vi"/>
              <a:t>Tích hợp hai chế độ quay: ngẫu nhiên và theo chỉ định.</a:t>
            </a:r>
            <a:endParaRPr/>
          </a:p>
          <a:p>
            <a:pPr marL="0" lvl="0" indent="0" algn="l" rtl="0">
              <a:spcBef>
                <a:spcPts val="1200"/>
              </a:spcBef>
              <a:spcAft>
                <a:spcPts val="0"/>
              </a:spcAft>
              <a:buNone/>
            </a:pPr>
            <a:r>
              <a:rPr lang="vi"/>
              <a:t>Đảm bảo mỗi lượt quay luôn có giải thưởng, không có trường hợp "trắng tay".</a:t>
            </a:r>
            <a:endParaRPr/>
          </a:p>
          <a:p>
            <a:pPr marL="0" lvl="0" indent="0" algn="l" rtl="0">
              <a:spcBef>
                <a:spcPts val="1200"/>
              </a:spcBef>
              <a:spcAft>
                <a:spcPts val="1200"/>
              </a:spcAft>
              <a:buNone/>
            </a:pPr>
            <a:endParaRPr/>
          </a:p>
        </p:txBody>
      </p:sp>
      <p:sp>
        <p:nvSpPr>
          <p:cNvPr id="308" name="Google Shape;308;p17"/>
          <p:cNvSpPr txBox="1"/>
          <p:nvPr/>
        </p:nvSpPr>
        <p:spPr>
          <a:xfrm>
            <a:off x="1303800" y="4501018"/>
            <a:ext cx="2095500" cy="15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vi" sz="1000" i="1" dirty="0">
                <a:solidFill>
                  <a:schemeClr val="dk2"/>
                </a:solidFill>
                <a:latin typeface="Nunito"/>
                <a:ea typeface="Nunito"/>
                <a:cs typeface="Nunito"/>
                <a:sym typeface="Nunito"/>
              </a:rPr>
              <a:t>Giao diện trúng thưởng thực tế</a:t>
            </a:r>
            <a:endParaRPr sz="1000" i="1" dirty="0">
              <a:solidFill>
                <a:schemeClr val="dk2"/>
              </a:solidFill>
              <a:latin typeface="Nunito"/>
              <a:ea typeface="Nunito"/>
              <a:cs typeface="Nunito"/>
              <a:sym typeface="Nunito"/>
            </a:endParaRPr>
          </a:p>
        </p:txBody>
      </p:sp>
      <p:pic>
        <p:nvPicPr>
          <p:cNvPr id="309" name="Google Shape;309;p17"/>
          <p:cNvPicPr preferRelativeResize="0"/>
          <p:nvPr/>
        </p:nvPicPr>
        <p:blipFill>
          <a:blip r:embed="rId3">
            <a:alphaModFix/>
          </a:blip>
          <a:stretch>
            <a:fillRect/>
          </a:stretch>
        </p:blipFill>
        <p:spPr>
          <a:xfrm>
            <a:off x="1223031" y="2472395"/>
            <a:ext cx="2415876" cy="1970425"/>
          </a:xfrm>
          <a:prstGeom prst="rect">
            <a:avLst/>
          </a:prstGeom>
          <a:noFill/>
          <a:ln>
            <a:noFill/>
          </a:ln>
        </p:spPr>
      </p:pic>
      <p:pic>
        <p:nvPicPr>
          <p:cNvPr id="310" name="Google Shape;310;p17"/>
          <p:cNvPicPr preferRelativeResize="0"/>
          <p:nvPr/>
        </p:nvPicPr>
        <p:blipFill>
          <a:blip r:embed="rId4">
            <a:alphaModFix/>
          </a:blip>
          <a:stretch>
            <a:fillRect/>
          </a:stretch>
        </p:blipFill>
        <p:spPr>
          <a:xfrm>
            <a:off x="3915577" y="2472395"/>
            <a:ext cx="2095501" cy="1983526"/>
          </a:xfrm>
          <a:prstGeom prst="rect">
            <a:avLst/>
          </a:prstGeom>
          <a:noFill/>
          <a:ln>
            <a:noFill/>
          </a:ln>
        </p:spPr>
      </p:pic>
      <p:sp>
        <p:nvSpPr>
          <p:cNvPr id="311" name="Google Shape;311;p17"/>
          <p:cNvSpPr txBox="1"/>
          <p:nvPr/>
        </p:nvSpPr>
        <p:spPr>
          <a:xfrm>
            <a:off x="4013400" y="4436368"/>
            <a:ext cx="2095500" cy="28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vi" sz="1000" i="1" dirty="0">
                <a:solidFill>
                  <a:schemeClr val="dk2"/>
                </a:solidFill>
                <a:latin typeface="Nunito"/>
                <a:ea typeface="Nunito"/>
                <a:cs typeface="Nunito"/>
                <a:sym typeface="Nunito"/>
              </a:rPr>
              <a:t>Giao diện quay nếu bấm dừng mới dừng để gây hứng thú cho người chơi</a:t>
            </a:r>
            <a:endParaRPr sz="1000" i="1" dirty="0">
              <a:solidFill>
                <a:schemeClr val="dk2"/>
              </a:solidFill>
              <a:latin typeface="Nunito"/>
              <a:ea typeface="Nunito"/>
              <a:cs typeface="Nunito"/>
              <a:sym typeface="Nunito"/>
            </a:endParaRPr>
          </a:p>
        </p:txBody>
      </p:sp>
      <p:pic>
        <p:nvPicPr>
          <p:cNvPr id="312" name="Google Shape;312;p17"/>
          <p:cNvPicPr preferRelativeResize="0"/>
          <p:nvPr/>
        </p:nvPicPr>
        <p:blipFill>
          <a:blip r:embed="rId5">
            <a:alphaModFix/>
          </a:blip>
          <a:stretch>
            <a:fillRect/>
          </a:stretch>
        </p:blipFill>
        <p:spPr>
          <a:xfrm>
            <a:off x="6625178" y="2469036"/>
            <a:ext cx="2095500" cy="2070047"/>
          </a:xfrm>
          <a:prstGeom prst="rect">
            <a:avLst/>
          </a:prstGeom>
          <a:noFill/>
          <a:ln>
            <a:noFill/>
          </a:ln>
        </p:spPr>
      </p:pic>
      <p:sp>
        <p:nvSpPr>
          <p:cNvPr id="313" name="Google Shape;313;p17"/>
          <p:cNvSpPr txBox="1"/>
          <p:nvPr/>
        </p:nvSpPr>
        <p:spPr>
          <a:xfrm>
            <a:off x="6609775" y="4492630"/>
            <a:ext cx="2095500" cy="388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vi" sz="1000" i="1">
                <a:solidFill>
                  <a:schemeClr val="dk2"/>
                </a:solidFill>
                <a:latin typeface="Nunito"/>
                <a:ea typeface="Nunito"/>
                <a:cs typeface="Nunito"/>
                <a:sym typeface="Nunito"/>
              </a:rPr>
              <a:t>Giao diện quay chỉ được trúng giải 3</a:t>
            </a:r>
            <a:endParaRPr sz="1000" i="1">
              <a:solidFill>
                <a:schemeClr val="dk2"/>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18"/>
          <p:cNvSpPr txBox="1">
            <a:spLocks noGrp="1"/>
          </p:cNvSpPr>
          <p:nvPr>
            <p:ph type="title"/>
          </p:nvPr>
        </p:nvSpPr>
        <p:spPr>
          <a:xfrm>
            <a:off x="1303800" y="598575"/>
            <a:ext cx="7030500" cy="515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t>Kết quả đạt được</a:t>
            </a:r>
            <a:endParaRPr/>
          </a:p>
        </p:txBody>
      </p:sp>
      <p:pic>
        <p:nvPicPr>
          <p:cNvPr id="319" name="Google Shape;319;p18"/>
          <p:cNvPicPr preferRelativeResize="0"/>
          <p:nvPr/>
        </p:nvPicPr>
        <p:blipFill>
          <a:blip r:embed="rId3">
            <a:alphaModFix/>
          </a:blip>
          <a:stretch>
            <a:fillRect/>
          </a:stretch>
        </p:blipFill>
        <p:spPr>
          <a:xfrm>
            <a:off x="1429100" y="1204650"/>
            <a:ext cx="2095500" cy="2070047"/>
          </a:xfrm>
          <a:prstGeom prst="rect">
            <a:avLst/>
          </a:prstGeom>
          <a:noFill/>
          <a:ln>
            <a:noFill/>
          </a:ln>
        </p:spPr>
      </p:pic>
      <p:sp>
        <p:nvSpPr>
          <p:cNvPr id="320" name="Google Shape;320;p18"/>
          <p:cNvSpPr txBox="1"/>
          <p:nvPr/>
        </p:nvSpPr>
        <p:spPr>
          <a:xfrm>
            <a:off x="1457000" y="3488475"/>
            <a:ext cx="2095500" cy="388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vi" sz="1000" i="1">
                <a:solidFill>
                  <a:schemeClr val="dk2"/>
                </a:solidFill>
                <a:latin typeface="Nunito"/>
                <a:ea typeface="Nunito"/>
                <a:cs typeface="Nunito"/>
                <a:sym typeface="Nunito"/>
              </a:rPr>
              <a:t>Giao diện quay chỉ được trúng giải 3</a:t>
            </a:r>
            <a:endParaRPr sz="1000" i="1">
              <a:solidFill>
                <a:schemeClr val="dk2"/>
              </a:solidFill>
              <a:latin typeface="Nunito"/>
              <a:ea typeface="Nunito"/>
              <a:cs typeface="Nunito"/>
              <a:sym typeface="Nunito"/>
            </a:endParaRPr>
          </a:p>
        </p:txBody>
      </p:sp>
      <p:pic>
        <p:nvPicPr>
          <p:cNvPr id="321" name="Google Shape;321;p18"/>
          <p:cNvPicPr preferRelativeResize="0"/>
          <p:nvPr/>
        </p:nvPicPr>
        <p:blipFill>
          <a:blip r:embed="rId4">
            <a:alphaModFix/>
          </a:blip>
          <a:stretch>
            <a:fillRect/>
          </a:stretch>
        </p:blipFill>
        <p:spPr>
          <a:xfrm>
            <a:off x="3929400" y="1204648"/>
            <a:ext cx="4861970" cy="1310825"/>
          </a:xfrm>
          <a:prstGeom prst="rect">
            <a:avLst/>
          </a:prstGeom>
          <a:noFill/>
          <a:ln>
            <a:noFill/>
          </a:ln>
        </p:spPr>
      </p:pic>
      <p:sp>
        <p:nvSpPr>
          <p:cNvPr id="322" name="Google Shape;322;p18"/>
          <p:cNvSpPr txBox="1"/>
          <p:nvPr/>
        </p:nvSpPr>
        <p:spPr>
          <a:xfrm>
            <a:off x="3929400" y="2697675"/>
            <a:ext cx="4862100" cy="6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vi" sz="1000" i="1">
                <a:solidFill>
                  <a:schemeClr val="dk2"/>
                </a:solidFill>
                <a:latin typeface="Nunito"/>
                <a:ea typeface="Nunito"/>
                <a:cs typeface="Nunito"/>
                <a:sym typeface="Nunito"/>
              </a:rPr>
              <a:t>Trúng chỉ định, chỉ cho người chơi quay trúng được giải 3 từ gốc 91 độ đến 134 độ để đảm bảo kiểm soát được số lượng giải thưởng hoặc theo các yêu cầu khác của công ty khi cần</a:t>
            </a:r>
            <a:endParaRPr sz="1000" i="1">
              <a:solidFill>
                <a:schemeClr val="dk2"/>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9"/>
          <p:cNvSpPr txBox="1">
            <a:spLocks noGrp="1"/>
          </p:cNvSpPr>
          <p:nvPr>
            <p:ph type="title"/>
          </p:nvPr>
        </p:nvSpPr>
        <p:spPr>
          <a:xfrm>
            <a:off x="1303800" y="598575"/>
            <a:ext cx="7030500" cy="515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t>Hạn chế của dự án</a:t>
            </a:r>
            <a:endParaRPr/>
          </a:p>
        </p:txBody>
      </p:sp>
      <p:sp>
        <p:nvSpPr>
          <p:cNvPr id="328" name="Google Shape;328;p19"/>
          <p:cNvSpPr txBox="1">
            <a:spLocks noGrp="1"/>
          </p:cNvSpPr>
          <p:nvPr>
            <p:ph type="body" idx="1"/>
          </p:nvPr>
        </p:nvSpPr>
        <p:spPr>
          <a:xfrm>
            <a:off x="1303800" y="1281450"/>
            <a:ext cx="7030500" cy="1886400"/>
          </a:xfrm>
          <a:prstGeom prst="rect">
            <a:avLst/>
          </a:prstGeom>
        </p:spPr>
        <p:txBody>
          <a:bodyPr spcFirstLastPara="1" wrap="square" lIns="91425" tIns="91425" rIns="91425" bIns="91425" anchor="t" anchorCtr="0">
            <a:normAutofit fontScale="92500" lnSpcReduction="10000"/>
          </a:bodyPr>
          <a:lstStyle/>
          <a:p>
            <a:pPr marL="0" lvl="0" indent="0" algn="l" rtl="0">
              <a:spcBef>
                <a:spcPts val="1200"/>
              </a:spcBef>
              <a:spcAft>
                <a:spcPts val="0"/>
              </a:spcAft>
              <a:buNone/>
            </a:pPr>
            <a:r>
              <a:rPr lang="vi"/>
              <a:t>Dự án vẫn còn một số hạn chế cần được cải thiện trong tương lai, bao gồm:</a:t>
            </a:r>
            <a:endParaRPr/>
          </a:p>
          <a:p>
            <a:pPr marL="457200" lvl="0" indent="-293211" algn="l" rtl="0">
              <a:spcBef>
                <a:spcPts val="1200"/>
              </a:spcBef>
              <a:spcAft>
                <a:spcPts val="0"/>
              </a:spcAft>
              <a:buClr>
                <a:srgbClr val="000000"/>
              </a:buClr>
              <a:buSzPct val="84615"/>
              <a:buFont typeface="Arial"/>
              <a:buChar char="●"/>
            </a:pPr>
            <a:r>
              <a:rPr lang="vi"/>
              <a:t>Chưa tích hợp hình ảnh minh họa cho các phần quà.</a:t>
            </a:r>
            <a:br>
              <a:rPr lang="vi"/>
            </a:br>
            <a:endParaRPr/>
          </a:p>
          <a:p>
            <a:pPr marL="457200" lvl="0" indent="-293211" algn="l" rtl="0">
              <a:spcBef>
                <a:spcPts val="0"/>
              </a:spcBef>
              <a:spcAft>
                <a:spcPts val="0"/>
              </a:spcAft>
              <a:buClr>
                <a:srgbClr val="000000"/>
              </a:buClr>
              <a:buSzPct val="84615"/>
              <a:buFont typeface="Arial"/>
              <a:buChar char="●"/>
            </a:pPr>
            <a:r>
              <a:rPr lang="vi"/>
              <a:t>Chưa có chức năng loại bỏ giải thưởng sau khi đã trúng.</a:t>
            </a:r>
            <a:br>
              <a:rPr lang="vi"/>
            </a:br>
            <a:endParaRPr/>
          </a:p>
          <a:p>
            <a:pPr marL="457200" lvl="0" indent="-293211" algn="l" rtl="0">
              <a:spcBef>
                <a:spcPts val="0"/>
              </a:spcBef>
              <a:spcAft>
                <a:spcPts val="0"/>
              </a:spcAft>
              <a:buClr>
                <a:srgbClr val="000000"/>
              </a:buClr>
              <a:buSzPct val="84615"/>
              <a:buFont typeface="Arial"/>
              <a:buChar char="●"/>
            </a:pPr>
            <a:r>
              <a:rPr lang="vi"/>
              <a:t>Chưa phân loại giải thưởng theo các cấp độ khác nhau như giải đặc biệt, giải nhất, giải khuyến khích,...</a:t>
            </a:r>
            <a:endParaRPr/>
          </a:p>
          <a:p>
            <a:pPr marL="0" lvl="0" indent="0" algn="l" rtl="0">
              <a:spcBef>
                <a:spcPts val="1200"/>
              </a:spcBef>
              <a:spcAft>
                <a:spcPts val="1200"/>
              </a:spcAft>
              <a:buNone/>
            </a:pPr>
            <a:endParaRPr/>
          </a:p>
        </p:txBody>
      </p:sp>
      <p:pic>
        <p:nvPicPr>
          <p:cNvPr id="329" name="Google Shape;329;p19"/>
          <p:cNvPicPr preferRelativeResize="0"/>
          <p:nvPr/>
        </p:nvPicPr>
        <p:blipFill>
          <a:blip r:embed="rId3">
            <a:alphaModFix/>
          </a:blip>
          <a:stretch>
            <a:fillRect/>
          </a:stretch>
        </p:blipFill>
        <p:spPr>
          <a:xfrm>
            <a:off x="616825" y="2888125"/>
            <a:ext cx="3275202" cy="2156600"/>
          </a:xfrm>
          <a:prstGeom prst="rect">
            <a:avLst/>
          </a:prstGeom>
          <a:noFill/>
          <a:ln>
            <a:noFill/>
          </a:ln>
        </p:spPr>
      </p:pic>
      <p:pic>
        <p:nvPicPr>
          <p:cNvPr id="330" name="Google Shape;330;p19"/>
          <p:cNvPicPr preferRelativeResize="0"/>
          <p:nvPr/>
        </p:nvPicPr>
        <p:blipFill>
          <a:blip r:embed="rId4">
            <a:alphaModFix/>
          </a:blip>
          <a:stretch>
            <a:fillRect/>
          </a:stretch>
        </p:blipFill>
        <p:spPr>
          <a:xfrm>
            <a:off x="4507200" y="2915725"/>
            <a:ext cx="3661076" cy="2059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0"/>
          <p:cNvSpPr txBox="1">
            <a:spLocks noGrp="1"/>
          </p:cNvSpPr>
          <p:nvPr>
            <p:ph type="title"/>
          </p:nvPr>
        </p:nvSpPr>
        <p:spPr>
          <a:xfrm>
            <a:off x="1303800" y="598575"/>
            <a:ext cx="7030500" cy="515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t>Định hướng phát triển</a:t>
            </a:r>
            <a:endParaRPr/>
          </a:p>
        </p:txBody>
      </p:sp>
      <p:sp>
        <p:nvSpPr>
          <p:cNvPr id="336" name="Google Shape;336;p20"/>
          <p:cNvSpPr txBox="1">
            <a:spLocks noGrp="1"/>
          </p:cNvSpPr>
          <p:nvPr>
            <p:ph type="body" idx="1"/>
          </p:nvPr>
        </p:nvSpPr>
        <p:spPr>
          <a:xfrm>
            <a:off x="1303800" y="1281450"/>
            <a:ext cx="7030500" cy="28017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vi"/>
              <a:t>Dự án sẽ tiếp tục được cải tiến với các tính năng mở rộng như:</a:t>
            </a:r>
            <a:endParaRPr/>
          </a:p>
          <a:p>
            <a:pPr marL="457200" lvl="0" indent="-298450" algn="l" rtl="0">
              <a:spcBef>
                <a:spcPts val="1200"/>
              </a:spcBef>
              <a:spcAft>
                <a:spcPts val="0"/>
              </a:spcAft>
              <a:buClr>
                <a:srgbClr val="000000"/>
              </a:buClr>
              <a:buSzPts val="1100"/>
              <a:buFont typeface="Arial"/>
              <a:buChar char="●"/>
            </a:pPr>
            <a:r>
              <a:rPr lang="vi"/>
              <a:t>Bổ sung hình ảnh cho từng giải thưởng để tăng tính trực quan.</a:t>
            </a:r>
            <a:br>
              <a:rPr lang="vi"/>
            </a:br>
            <a:endParaRPr/>
          </a:p>
          <a:p>
            <a:pPr marL="457200" lvl="0" indent="-298450" algn="l" rtl="0">
              <a:spcBef>
                <a:spcPts val="0"/>
              </a:spcBef>
              <a:spcAft>
                <a:spcPts val="0"/>
              </a:spcAft>
              <a:buClr>
                <a:srgbClr val="000000"/>
              </a:buClr>
              <a:buSzPts val="1100"/>
              <a:buFont typeface="Arial"/>
              <a:buChar char="●"/>
            </a:pPr>
            <a:r>
              <a:rPr lang="vi"/>
              <a:t>Hỗ trợ tính năng nhập tên người chơi và hiển thị tên trên vòng quay.</a:t>
            </a:r>
            <a:br>
              <a:rPr lang="vi"/>
            </a:br>
            <a:endParaRPr/>
          </a:p>
          <a:p>
            <a:pPr marL="457200" lvl="0" indent="-298450" algn="l" rtl="0">
              <a:spcBef>
                <a:spcPts val="0"/>
              </a:spcBef>
              <a:spcAft>
                <a:spcPts val="0"/>
              </a:spcAft>
              <a:buClr>
                <a:srgbClr val="000000"/>
              </a:buClr>
              <a:buSzPts val="1100"/>
              <a:buFont typeface="Arial"/>
              <a:buChar char="●"/>
            </a:pPr>
            <a:r>
              <a:rPr lang="vi"/>
              <a:t>Thêm chế độ loại bỏ giải thưởng đã trúng để tránh trùng lặp.</a:t>
            </a:r>
            <a:br>
              <a:rPr lang="vi"/>
            </a:br>
            <a:endParaRPr/>
          </a:p>
          <a:p>
            <a:pPr marL="457200" lvl="0" indent="-298450" algn="l" rtl="0">
              <a:spcBef>
                <a:spcPts val="0"/>
              </a:spcBef>
              <a:spcAft>
                <a:spcPts val="0"/>
              </a:spcAft>
              <a:buClr>
                <a:srgbClr val="000000"/>
              </a:buClr>
              <a:buSzPts val="1100"/>
              <a:buFont typeface="Arial"/>
              <a:buChar char="●"/>
            </a:pPr>
            <a:r>
              <a:rPr lang="vi"/>
              <a:t>Mở rộng khả năng tùy chỉnh giải thưởng và thiết lập số lượng phần quà có hạn.</a:t>
            </a:r>
            <a:endParaRPr/>
          </a:p>
          <a:p>
            <a:pPr marL="0" lvl="0" indent="0" algn="l" rtl="0">
              <a:spcBef>
                <a:spcPts val="1200"/>
              </a:spcBef>
              <a:spcAft>
                <a:spcPts val="12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21"/>
          <p:cNvSpPr txBox="1">
            <a:spLocks noGrp="1"/>
          </p:cNvSpPr>
          <p:nvPr>
            <p:ph type="title"/>
          </p:nvPr>
        </p:nvSpPr>
        <p:spPr>
          <a:xfrm>
            <a:off x="1303800" y="598575"/>
            <a:ext cx="7030500" cy="515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t>Câu hỏi thảo luận</a:t>
            </a:r>
            <a:endParaRPr/>
          </a:p>
        </p:txBody>
      </p:sp>
      <p:sp>
        <p:nvSpPr>
          <p:cNvPr id="342" name="Google Shape;342;p21"/>
          <p:cNvSpPr txBox="1">
            <a:spLocks noGrp="1"/>
          </p:cNvSpPr>
          <p:nvPr>
            <p:ph type="body" idx="1"/>
          </p:nvPr>
        </p:nvSpPr>
        <p:spPr>
          <a:xfrm>
            <a:off x="1303800" y="1281450"/>
            <a:ext cx="7030500" cy="28017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vi" sz="1500" b="1">
                <a:solidFill>
                  <a:srgbClr val="000000"/>
                </a:solidFill>
                <a:latin typeface="Arial"/>
                <a:ea typeface="Arial"/>
                <a:cs typeface="Arial"/>
                <a:sym typeface="Arial"/>
              </a:rPr>
              <a:t>Câu 1. Điều gì quyết định kết quả của vòng quay may mắn?</a:t>
            </a:r>
            <a:endParaRPr sz="1500" b="1">
              <a:solidFill>
                <a:srgbClr val="000000"/>
              </a:solidFill>
              <a:latin typeface="Arial"/>
              <a:ea typeface="Arial"/>
              <a:cs typeface="Arial"/>
              <a:sym typeface="Arial"/>
            </a:endParaRPr>
          </a:p>
          <a:p>
            <a:pPr marL="0" lvl="0" indent="0" algn="l" rtl="0">
              <a:spcBef>
                <a:spcPts val="1200"/>
              </a:spcBef>
              <a:spcAft>
                <a:spcPts val="0"/>
              </a:spcAft>
              <a:buNone/>
            </a:pPr>
            <a:r>
              <a:rPr lang="vi" sz="1100">
                <a:solidFill>
                  <a:srgbClr val="000000"/>
                </a:solidFill>
                <a:latin typeface="Arial"/>
                <a:ea typeface="Arial"/>
                <a:cs typeface="Arial"/>
                <a:sym typeface="Arial"/>
              </a:rPr>
              <a:t> </a:t>
            </a:r>
            <a:r>
              <a:rPr lang="vi">
                <a:solidFill>
                  <a:srgbClr val="000000"/>
                </a:solidFill>
                <a:latin typeface="Arial"/>
                <a:ea typeface="Arial"/>
                <a:cs typeface="Arial"/>
                <a:sym typeface="Arial"/>
              </a:rPr>
              <a:t>A. Người chơi bấm nút quay mạnh hay nhẹ</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B. Hệ thống tính toán dựa trên thuật toán</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C. Thời gian chơi trong ngày</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D. Số lần quay trước đó của người chơi</a:t>
            </a:r>
            <a:br>
              <a:rPr lang="vi">
                <a:solidFill>
                  <a:srgbClr val="000000"/>
                </a:solidFill>
                <a:latin typeface="Arial"/>
                <a:ea typeface="Arial"/>
                <a:cs typeface="Arial"/>
                <a:sym typeface="Arial"/>
              </a:rPr>
            </a:br>
            <a:endParaRPr>
              <a:solidFill>
                <a:srgbClr val="000000"/>
              </a:solidFill>
              <a:latin typeface="Arial"/>
              <a:ea typeface="Arial"/>
              <a:cs typeface="Arial"/>
              <a:sym typeface="Arial"/>
            </a:endParaRPr>
          </a:p>
          <a:p>
            <a:pPr marL="0" lvl="0" indent="0" algn="l" rtl="0">
              <a:spcBef>
                <a:spcPts val="1200"/>
              </a:spcBef>
              <a:spcAft>
                <a:spcPts val="0"/>
              </a:spcAft>
              <a:buNone/>
            </a:pPr>
            <a:r>
              <a:rPr lang="vi">
                <a:solidFill>
                  <a:srgbClr val="000000"/>
                </a:solidFill>
                <a:latin typeface="Arial"/>
                <a:ea typeface="Arial"/>
                <a:cs typeface="Arial"/>
                <a:sym typeface="Arial"/>
              </a:rPr>
              <a:t>Đáp án: </a:t>
            </a:r>
            <a:r>
              <a:rPr lang="vi" b="1">
                <a:solidFill>
                  <a:srgbClr val="000000"/>
                </a:solidFill>
                <a:latin typeface="Arial"/>
                <a:ea typeface="Arial"/>
                <a:cs typeface="Arial"/>
                <a:sym typeface="Arial"/>
              </a:rPr>
              <a:t>B</a:t>
            </a:r>
            <a:br>
              <a:rPr lang="vi">
                <a:solidFill>
                  <a:srgbClr val="000000"/>
                </a:solidFill>
                <a:latin typeface="Arial"/>
                <a:ea typeface="Arial"/>
                <a:cs typeface="Arial"/>
                <a:sym typeface="Arial"/>
              </a:rPr>
            </a:br>
            <a:endParaRPr>
              <a:solidFill>
                <a:srgbClr val="000000"/>
              </a:solidFill>
              <a:latin typeface="Arial"/>
              <a:ea typeface="Arial"/>
              <a:cs typeface="Arial"/>
              <a:sym typeface="Arial"/>
            </a:endParaRPr>
          </a:p>
          <a:p>
            <a:pPr marL="45720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22"/>
          <p:cNvSpPr txBox="1">
            <a:spLocks noGrp="1"/>
          </p:cNvSpPr>
          <p:nvPr>
            <p:ph type="body" idx="1"/>
          </p:nvPr>
        </p:nvSpPr>
        <p:spPr>
          <a:xfrm>
            <a:off x="1269050" y="760150"/>
            <a:ext cx="7030500" cy="38388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None/>
            </a:pPr>
            <a:r>
              <a:rPr lang="vi" sz="1475" b="1">
                <a:solidFill>
                  <a:srgbClr val="000000"/>
                </a:solidFill>
                <a:latin typeface="Arial"/>
                <a:ea typeface="Arial"/>
                <a:cs typeface="Arial"/>
                <a:sym typeface="Arial"/>
              </a:rPr>
              <a:t>Câu 2: Game vòng quay may mắn thường sử dụng thuật toán nào để đảm bảo tính ngẫu nhiên?</a:t>
            </a:r>
            <a:endParaRPr sz="1475" b="1">
              <a:solidFill>
                <a:srgbClr val="000000"/>
              </a:solidFill>
              <a:latin typeface="Arial"/>
              <a:ea typeface="Arial"/>
              <a:cs typeface="Arial"/>
              <a:sym typeface="Arial"/>
            </a:endParaRPr>
          </a:p>
          <a:p>
            <a:pPr marL="0" lvl="0" indent="0" algn="l" rtl="0">
              <a:spcBef>
                <a:spcPts val="1200"/>
              </a:spcBef>
              <a:spcAft>
                <a:spcPts val="0"/>
              </a:spcAft>
              <a:buNone/>
            </a:pPr>
            <a:r>
              <a:rPr lang="vi">
                <a:solidFill>
                  <a:srgbClr val="000000"/>
                </a:solidFill>
                <a:latin typeface="Arial"/>
                <a:ea typeface="Arial"/>
                <a:cs typeface="Arial"/>
                <a:sym typeface="Arial"/>
              </a:rPr>
              <a:t> A. Random() hoặc RNG (Random Number Generator) </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B. Thuật toán tìm kiếm nhị phân</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C. Giải thuật đệ quy</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D. AI dự đoán kết quả</a:t>
            </a:r>
            <a:endParaRPr>
              <a:solidFill>
                <a:srgbClr val="000000"/>
              </a:solidFill>
              <a:latin typeface="Arial"/>
              <a:ea typeface="Arial"/>
              <a:cs typeface="Arial"/>
              <a:sym typeface="Arial"/>
            </a:endParaRPr>
          </a:p>
          <a:p>
            <a:pPr marL="0" lvl="0" indent="0" algn="l" rtl="0">
              <a:spcBef>
                <a:spcPts val="1200"/>
              </a:spcBef>
              <a:spcAft>
                <a:spcPts val="0"/>
              </a:spcAft>
              <a:buNone/>
            </a:pPr>
            <a:endParaRPr sz="1400">
              <a:solidFill>
                <a:srgbClr val="000000"/>
              </a:solidFill>
              <a:latin typeface="Arial"/>
              <a:ea typeface="Arial"/>
              <a:cs typeface="Arial"/>
              <a:sym typeface="Arial"/>
            </a:endParaRPr>
          </a:p>
          <a:p>
            <a:pPr marL="0" lvl="0" indent="0" algn="l" rtl="0">
              <a:spcBef>
                <a:spcPts val="1200"/>
              </a:spcBef>
              <a:spcAft>
                <a:spcPts val="0"/>
              </a:spcAft>
              <a:buNone/>
            </a:pPr>
            <a:r>
              <a:rPr lang="vi">
                <a:solidFill>
                  <a:srgbClr val="000000"/>
                </a:solidFill>
                <a:latin typeface="Arial"/>
                <a:ea typeface="Arial"/>
                <a:cs typeface="Arial"/>
                <a:sym typeface="Arial"/>
              </a:rPr>
              <a:t>Đáp án: </a:t>
            </a:r>
            <a:r>
              <a:rPr lang="vi" b="1">
                <a:solidFill>
                  <a:srgbClr val="000000"/>
                </a:solidFill>
                <a:latin typeface="Arial"/>
                <a:ea typeface="Arial"/>
                <a:cs typeface="Arial"/>
                <a:sym typeface="Arial"/>
              </a:rPr>
              <a:t>A</a:t>
            </a:r>
            <a:br>
              <a:rPr lang="vi">
                <a:solidFill>
                  <a:srgbClr val="000000"/>
                </a:solidFill>
                <a:latin typeface="Arial"/>
                <a:ea typeface="Arial"/>
                <a:cs typeface="Arial"/>
                <a:sym typeface="Arial"/>
              </a:rPr>
            </a:br>
            <a:endParaRPr>
              <a:solidFill>
                <a:srgbClr val="000000"/>
              </a:solidFill>
              <a:latin typeface="Arial"/>
              <a:ea typeface="Arial"/>
              <a:cs typeface="Arial"/>
              <a:sym typeface="Arial"/>
            </a:endParaRPr>
          </a:p>
          <a:p>
            <a:pPr marL="45720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3"/>
          <p:cNvSpPr txBox="1">
            <a:spLocks noGrp="1"/>
          </p:cNvSpPr>
          <p:nvPr>
            <p:ph type="body" idx="1"/>
          </p:nvPr>
        </p:nvSpPr>
        <p:spPr>
          <a:xfrm>
            <a:off x="1269050" y="760150"/>
            <a:ext cx="7030500" cy="38388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None/>
            </a:pPr>
            <a:r>
              <a:rPr lang="vi" sz="1475" b="1">
                <a:solidFill>
                  <a:srgbClr val="000000"/>
                </a:solidFill>
                <a:latin typeface="Arial"/>
                <a:ea typeface="Arial"/>
                <a:cs typeface="Arial"/>
                <a:sym typeface="Arial"/>
              </a:rPr>
              <a:t>Câu 3: Làm thế nào để tăng sự hấp dẫn cho game vòng quay may mắn?</a:t>
            </a:r>
            <a:endParaRPr sz="1475" b="1">
              <a:solidFill>
                <a:srgbClr val="000000"/>
              </a:solidFill>
              <a:latin typeface="Arial"/>
              <a:ea typeface="Arial"/>
              <a:cs typeface="Arial"/>
              <a:sym typeface="Arial"/>
            </a:endParaRPr>
          </a:p>
          <a:p>
            <a:pPr marL="0" lvl="0" indent="0" algn="l" rtl="0">
              <a:spcBef>
                <a:spcPts val="1200"/>
              </a:spcBef>
              <a:spcAft>
                <a:spcPts val="0"/>
              </a:spcAft>
              <a:buNone/>
            </a:pPr>
            <a:r>
              <a:rPr lang="vi">
                <a:solidFill>
                  <a:srgbClr val="000000"/>
                </a:solidFill>
                <a:latin typeface="Arial"/>
                <a:ea typeface="Arial"/>
                <a:cs typeface="Arial"/>
                <a:sym typeface="Arial"/>
              </a:rPr>
              <a:t> A. Thêm hiệu ứng âm thanh, hình ảnh sinh động</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B. Giới hạn số lần quay mỗi ngày ở mức tối thiểu</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C. Không hiển thị phần thưởng để tạo sự bất ngờ</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D. Chỉ cho phép một người chơi duy nhất mỗi ngày</a:t>
            </a:r>
            <a:endParaRPr sz="1500">
              <a:solidFill>
                <a:srgbClr val="000000"/>
              </a:solidFill>
              <a:latin typeface="Arial"/>
              <a:ea typeface="Arial"/>
              <a:cs typeface="Arial"/>
              <a:sym typeface="Arial"/>
            </a:endParaRPr>
          </a:p>
          <a:p>
            <a:pPr marL="0" lvl="0" indent="0" algn="l" rtl="0">
              <a:spcBef>
                <a:spcPts val="1200"/>
              </a:spcBef>
              <a:spcAft>
                <a:spcPts val="0"/>
              </a:spcAft>
              <a:buNone/>
            </a:pPr>
            <a:endParaRPr sz="1400">
              <a:solidFill>
                <a:srgbClr val="000000"/>
              </a:solidFill>
              <a:latin typeface="Arial"/>
              <a:ea typeface="Arial"/>
              <a:cs typeface="Arial"/>
              <a:sym typeface="Arial"/>
            </a:endParaRPr>
          </a:p>
          <a:p>
            <a:pPr marL="0" lvl="0" indent="0" algn="l" rtl="0">
              <a:spcBef>
                <a:spcPts val="1200"/>
              </a:spcBef>
              <a:spcAft>
                <a:spcPts val="0"/>
              </a:spcAft>
              <a:buNone/>
            </a:pPr>
            <a:r>
              <a:rPr lang="vi">
                <a:solidFill>
                  <a:srgbClr val="000000"/>
                </a:solidFill>
                <a:latin typeface="Arial"/>
                <a:ea typeface="Arial"/>
                <a:cs typeface="Arial"/>
                <a:sym typeface="Arial"/>
              </a:rPr>
              <a:t>Đáp án: </a:t>
            </a:r>
            <a:r>
              <a:rPr lang="vi" b="1">
                <a:solidFill>
                  <a:srgbClr val="000000"/>
                </a:solidFill>
                <a:latin typeface="Arial"/>
                <a:ea typeface="Arial"/>
                <a:cs typeface="Arial"/>
                <a:sym typeface="Arial"/>
              </a:rPr>
              <a:t>A</a:t>
            </a:r>
            <a:br>
              <a:rPr lang="vi">
                <a:solidFill>
                  <a:srgbClr val="000000"/>
                </a:solidFill>
                <a:latin typeface="Arial"/>
                <a:ea typeface="Arial"/>
                <a:cs typeface="Arial"/>
                <a:sym typeface="Arial"/>
              </a:rPr>
            </a:br>
            <a:endParaRPr>
              <a:solidFill>
                <a:srgbClr val="000000"/>
              </a:solidFill>
              <a:latin typeface="Arial"/>
              <a:ea typeface="Arial"/>
              <a:cs typeface="Arial"/>
              <a:sym typeface="Arial"/>
            </a:endParaRPr>
          </a:p>
          <a:p>
            <a:pPr marL="45720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4"/>
          <p:cNvSpPr txBox="1">
            <a:spLocks noGrp="1"/>
          </p:cNvSpPr>
          <p:nvPr>
            <p:ph type="body" idx="1"/>
          </p:nvPr>
        </p:nvSpPr>
        <p:spPr>
          <a:xfrm>
            <a:off x="1269050" y="760150"/>
            <a:ext cx="7030500" cy="38388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None/>
            </a:pPr>
            <a:r>
              <a:rPr lang="vi" sz="1475" b="1">
                <a:solidFill>
                  <a:srgbClr val="000000"/>
                </a:solidFill>
                <a:latin typeface="Arial"/>
                <a:ea typeface="Arial"/>
                <a:cs typeface="Arial"/>
                <a:sym typeface="Arial"/>
              </a:rPr>
              <a:t>Câu 4: Một trong những yếu tố quan trọng giúp vòng quay hoạt động mượt mà trên website là gì?</a:t>
            </a:r>
            <a:endParaRPr sz="1475" b="1">
              <a:solidFill>
                <a:srgbClr val="000000"/>
              </a:solidFill>
              <a:latin typeface="Arial"/>
              <a:ea typeface="Arial"/>
              <a:cs typeface="Arial"/>
              <a:sym typeface="Arial"/>
            </a:endParaRPr>
          </a:p>
          <a:p>
            <a:pPr marL="0" lvl="0" indent="0" algn="l" rtl="0">
              <a:spcBef>
                <a:spcPts val="1200"/>
              </a:spcBef>
              <a:spcAft>
                <a:spcPts val="0"/>
              </a:spcAft>
              <a:buNone/>
            </a:pPr>
            <a:r>
              <a:rPr lang="vi">
                <a:solidFill>
                  <a:srgbClr val="000000"/>
                </a:solidFill>
                <a:latin typeface="Arial"/>
                <a:ea typeface="Arial"/>
                <a:cs typeface="Arial"/>
                <a:sym typeface="Arial"/>
              </a:rPr>
              <a:t> A. Giao diện đồ họa đẹp mắt nhưng không cần tối ưu hiệu suất.</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B. Sử dụng hiệu ứng động nhưng không cần kiểm tra lỗi</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C. Tối ưu thuật toán quay số và hiệu suất xử lý dữ liệu</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D. Chạy vòng quay dựa trên dữ liệu có sẵn thay vì ngẫu nhiên</a:t>
            </a:r>
            <a:endParaRPr sz="1500">
              <a:solidFill>
                <a:srgbClr val="000000"/>
              </a:solidFill>
              <a:latin typeface="Arial"/>
              <a:ea typeface="Arial"/>
              <a:cs typeface="Arial"/>
              <a:sym typeface="Arial"/>
            </a:endParaRPr>
          </a:p>
          <a:p>
            <a:pPr marL="0" lvl="0" indent="0" algn="l" rtl="0">
              <a:spcBef>
                <a:spcPts val="1200"/>
              </a:spcBef>
              <a:spcAft>
                <a:spcPts val="0"/>
              </a:spcAft>
              <a:buNone/>
            </a:pPr>
            <a:endParaRPr sz="1400">
              <a:solidFill>
                <a:srgbClr val="000000"/>
              </a:solidFill>
              <a:latin typeface="Arial"/>
              <a:ea typeface="Arial"/>
              <a:cs typeface="Arial"/>
              <a:sym typeface="Arial"/>
            </a:endParaRPr>
          </a:p>
          <a:p>
            <a:pPr marL="0" lvl="0" indent="0" algn="l" rtl="0">
              <a:spcBef>
                <a:spcPts val="1200"/>
              </a:spcBef>
              <a:spcAft>
                <a:spcPts val="0"/>
              </a:spcAft>
              <a:buNone/>
            </a:pPr>
            <a:r>
              <a:rPr lang="vi">
                <a:solidFill>
                  <a:srgbClr val="000000"/>
                </a:solidFill>
                <a:latin typeface="Arial"/>
                <a:ea typeface="Arial"/>
                <a:cs typeface="Arial"/>
                <a:sym typeface="Arial"/>
              </a:rPr>
              <a:t>Đáp án: </a:t>
            </a:r>
            <a:r>
              <a:rPr lang="vi" b="1">
                <a:solidFill>
                  <a:srgbClr val="000000"/>
                </a:solidFill>
                <a:latin typeface="Arial"/>
                <a:ea typeface="Arial"/>
                <a:cs typeface="Arial"/>
                <a:sym typeface="Arial"/>
              </a:rPr>
              <a:t>C</a:t>
            </a:r>
            <a:br>
              <a:rPr lang="vi">
                <a:solidFill>
                  <a:srgbClr val="000000"/>
                </a:solidFill>
                <a:latin typeface="Arial"/>
                <a:ea typeface="Arial"/>
                <a:cs typeface="Arial"/>
                <a:sym typeface="Arial"/>
              </a:rPr>
            </a:br>
            <a:endParaRPr>
              <a:solidFill>
                <a:srgbClr val="000000"/>
              </a:solidFill>
              <a:latin typeface="Arial"/>
              <a:ea typeface="Arial"/>
              <a:cs typeface="Arial"/>
              <a:sym typeface="Arial"/>
            </a:endParaRPr>
          </a:p>
          <a:p>
            <a:pPr marL="45720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25"/>
          <p:cNvSpPr txBox="1">
            <a:spLocks noGrp="1"/>
          </p:cNvSpPr>
          <p:nvPr>
            <p:ph type="body" idx="1"/>
          </p:nvPr>
        </p:nvSpPr>
        <p:spPr>
          <a:xfrm>
            <a:off x="1269050" y="760150"/>
            <a:ext cx="7030500" cy="38388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None/>
            </a:pPr>
            <a:r>
              <a:rPr lang="vi" sz="1475" b="1">
                <a:solidFill>
                  <a:srgbClr val="000000"/>
                </a:solidFill>
                <a:latin typeface="Arial"/>
                <a:ea typeface="Arial"/>
                <a:cs typeface="Arial"/>
                <a:sym typeface="Arial"/>
              </a:rPr>
              <a:t>Câu 4: Một trong những yếu tố quan trọng giúp vòng quay hoạt động mượt mà trên website là gì?</a:t>
            </a:r>
            <a:endParaRPr sz="1475" b="1">
              <a:solidFill>
                <a:srgbClr val="000000"/>
              </a:solidFill>
              <a:latin typeface="Arial"/>
              <a:ea typeface="Arial"/>
              <a:cs typeface="Arial"/>
              <a:sym typeface="Arial"/>
            </a:endParaRPr>
          </a:p>
          <a:p>
            <a:pPr marL="0" lvl="0" indent="0" algn="l" rtl="0">
              <a:spcBef>
                <a:spcPts val="1200"/>
              </a:spcBef>
              <a:spcAft>
                <a:spcPts val="0"/>
              </a:spcAft>
              <a:buNone/>
            </a:pPr>
            <a:r>
              <a:rPr lang="vi">
                <a:solidFill>
                  <a:srgbClr val="000000"/>
                </a:solidFill>
                <a:latin typeface="Arial"/>
                <a:ea typeface="Arial"/>
                <a:cs typeface="Arial"/>
                <a:sym typeface="Arial"/>
              </a:rPr>
              <a:t> A. Giao diện đồ họa đẹp mắt nhưng không cần tối ưu hiệu suất.</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B. Sử dụng hiệu ứng động nhưng không cần kiểm tra lỗi</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C. Tối ưu thuật toán quay số và hiệu suất xử lý dữ liệu</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D. Chạy vòng quay dựa trên dữ liệu có sẵn thay vì ngẫu nhiên</a:t>
            </a:r>
            <a:endParaRPr sz="1500">
              <a:solidFill>
                <a:srgbClr val="000000"/>
              </a:solidFill>
              <a:latin typeface="Arial"/>
              <a:ea typeface="Arial"/>
              <a:cs typeface="Arial"/>
              <a:sym typeface="Arial"/>
            </a:endParaRPr>
          </a:p>
          <a:p>
            <a:pPr marL="0" lvl="0" indent="0" algn="l" rtl="0">
              <a:spcBef>
                <a:spcPts val="1200"/>
              </a:spcBef>
              <a:spcAft>
                <a:spcPts val="0"/>
              </a:spcAft>
              <a:buNone/>
            </a:pPr>
            <a:endParaRPr sz="1400">
              <a:solidFill>
                <a:srgbClr val="000000"/>
              </a:solidFill>
              <a:latin typeface="Arial"/>
              <a:ea typeface="Arial"/>
              <a:cs typeface="Arial"/>
              <a:sym typeface="Arial"/>
            </a:endParaRPr>
          </a:p>
          <a:p>
            <a:pPr marL="0" lvl="0" indent="0" algn="l" rtl="0">
              <a:spcBef>
                <a:spcPts val="1200"/>
              </a:spcBef>
              <a:spcAft>
                <a:spcPts val="0"/>
              </a:spcAft>
              <a:buNone/>
            </a:pPr>
            <a:r>
              <a:rPr lang="vi">
                <a:solidFill>
                  <a:srgbClr val="000000"/>
                </a:solidFill>
                <a:latin typeface="Arial"/>
                <a:ea typeface="Arial"/>
                <a:cs typeface="Arial"/>
                <a:sym typeface="Arial"/>
              </a:rPr>
              <a:t>Đáp án: </a:t>
            </a:r>
            <a:r>
              <a:rPr lang="vi" b="1">
                <a:solidFill>
                  <a:srgbClr val="000000"/>
                </a:solidFill>
                <a:latin typeface="Arial"/>
                <a:ea typeface="Arial"/>
                <a:cs typeface="Arial"/>
                <a:sym typeface="Arial"/>
              </a:rPr>
              <a:t>C</a:t>
            </a:r>
            <a:br>
              <a:rPr lang="vi">
                <a:solidFill>
                  <a:srgbClr val="000000"/>
                </a:solidFill>
                <a:latin typeface="Arial"/>
                <a:ea typeface="Arial"/>
                <a:cs typeface="Arial"/>
                <a:sym typeface="Arial"/>
              </a:rPr>
            </a:br>
            <a:endParaRPr>
              <a:solidFill>
                <a:srgbClr val="000000"/>
              </a:solidFill>
              <a:latin typeface="Arial"/>
              <a:ea typeface="Arial"/>
              <a:cs typeface="Arial"/>
              <a:sym typeface="Arial"/>
            </a:endParaRPr>
          </a:p>
          <a:p>
            <a:pPr marL="45720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6"/>
          <p:cNvSpPr txBox="1">
            <a:spLocks noGrp="1"/>
          </p:cNvSpPr>
          <p:nvPr>
            <p:ph type="body" idx="1"/>
          </p:nvPr>
        </p:nvSpPr>
        <p:spPr>
          <a:xfrm>
            <a:off x="1269050" y="760150"/>
            <a:ext cx="7030500" cy="38388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None/>
            </a:pPr>
            <a:r>
              <a:rPr lang="vi" sz="1475" b="1">
                <a:solidFill>
                  <a:srgbClr val="000000"/>
                </a:solidFill>
                <a:latin typeface="Arial"/>
                <a:ea typeface="Arial"/>
                <a:cs typeface="Arial"/>
                <a:sym typeface="Arial"/>
              </a:rPr>
              <a:t>Câu 5: Vòng quay may mắn có thể ứng dụng vào những lĩnh vực nào sau đây?</a:t>
            </a:r>
            <a:endParaRPr sz="1475" b="1">
              <a:solidFill>
                <a:srgbClr val="000000"/>
              </a:solidFill>
              <a:latin typeface="Arial"/>
              <a:ea typeface="Arial"/>
              <a:cs typeface="Arial"/>
              <a:sym typeface="Arial"/>
            </a:endParaRPr>
          </a:p>
          <a:p>
            <a:pPr marL="0" lvl="0" indent="0" algn="l" rtl="0">
              <a:spcBef>
                <a:spcPts val="1200"/>
              </a:spcBef>
              <a:spcAft>
                <a:spcPts val="0"/>
              </a:spcAft>
              <a:buNone/>
            </a:pPr>
            <a:r>
              <a:rPr lang="vi">
                <a:solidFill>
                  <a:srgbClr val="000000"/>
                </a:solidFill>
                <a:latin typeface="Arial"/>
                <a:ea typeface="Arial"/>
                <a:cs typeface="Arial"/>
                <a:sym typeface="Arial"/>
              </a:rPr>
              <a:t> A. Chỉ dùng để chơi game giải trí</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B. Quản lý hệ thống bán hàng và khuyến mãi</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C. Dùng để lập trình hệ thống điều khiển tự động</a:t>
            </a:r>
            <a:br>
              <a:rPr lang="vi">
                <a:solidFill>
                  <a:srgbClr val="000000"/>
                </a:solidFill>
                <a:latin typeface="Arial"/>
                <a:ea typeface="Arial"/>
                <a:cs typeface="Arial"/>
                <a:sym typeface="Arial"/>
              </a:rPr>
            </a:br>
            <a:r>
              <a:rPr lang="vi">
                <a:solidFill>
                  <a:srgbClr val="000000"/>
                </a:solidFill>
                <a:latin typeface="Arial"/>
                <a:ea typeface="Arial"/>
                <a:cs typeface="Arial"/>
                <a:sym typeface="Arial"/>
              </a:rPr>
              <a:t> D. Chỉ sử dụng cho các website thương mại điện tử</a:t>
            </a:r>
            <a:endParaRPr sz="1500">
              <a:solidFill>
                <a:srgbClr val="000000"/>
              </a:solidFill>
              <a:latin typeface="Arial"/>
              <a:ea typeface="Arial"/>
              <a:cs typeface="Arial"/>
              <a:sym typeface="Arial"/>
            </a:endParaRPr>
          </a:p>
          <a:p>
            <a:pPr marL="0" lvl="0" indent="0" algn="l" rtl="0">
              <a:spcBef>
                <a:spcPts val="1200"/>
              </a:spcBef>
              <a:spcAft>
                <a:spcPts val="0"/>
              </a:spcAft>
              <a:buNone/>
            </a:pPr>
            <a:endParaRPr sz="1400">
              <a:solidFill>
                <a:srgbClr val="000000"/>
              </a:solidFill>
              <a:latin typeface="Arial"/>
              <a:ea typeface="Arial"/>
              <a:cs typeface="Arial"/>
              <a:sym typeface="Arial"/>
            </a:endParaRPr>
          </a:p>
          <a:p>
            <a:pPr marL="0" lvl="0" indent="0" algn="l" rtl="0">
              <a:spcBef>
                <a:spcPts val="1200"/>
              </a:spcBef>
              <a:spcAft>
                <a:spcPts val="0"/>
              </a:spcAft>
              <a:buNone/>
            </a:pPr>
            <a:r>
              <a:rPr lang="vi">
                <a:solidFill>
                  <a:srgbClr val="000000"/>
                </a:solidFill>
                <a:latin typeface="Arial"/>
                <a:ea typeface="Arial"/>
                <a:cs typeface="Arial"/>
                <a:sym typeface="Arial"/>
              </a:rPr>
              <a:t>Đáp án: </a:t>
            </a:r>
            <a:r>
              <a:rPr lang="vi" b="1">
                <a:solidFill>
                  <a:srgbClr val="000000"/>
                </a:solidFill>
                <a:latin typeface="Arial"/>
                <a:ea typeface="Arial"/>
                <a:cs typeface="Arial"/>
                <a:sym typeface="Arial"/>
              </a:rPr>
              <a:t>B</a:t>
            </a:r>
            <a:br>
              <a:rPr lang="vi">
                <a:solidFill>
                  <a:srgbClr val="000000"/>
                </a:solidFill>
                <a:latin typeface="Arial"/>
                <a:ea typeface="Arial"/>
                <a:cs typeface="Arial"/>
                <a:sym typeface="Arial"/>
              </a:rPr>
            </a:br>
            <a:endParaRPr>
              <a:solidFill>
                <a:srgbClr val="000000"/>
              </a:solidFill>
              <a:latin typeface="Arial"/>
              <a:ea typeface="Arial"/>
              <a:cs typeface="Arial"/>
              <a:sym typeface="Arial"/>
            </a:endParaRPr>
          </a:p>
          <a:p>
            <a:pPr marL="45720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1096</Words>
  <Application>Microsoft Office PowerPoint</Application>
  <PresentationFormat>Trình chiếu Trên màn hình (16:9)</PresentationFormat>
  <Paragraphs>72</Paragraphs>
  <Slides>14</Slides>
  <Notes>14</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14</vt:i4>
      </vt:variant>
    </vt:vector>
  </HeadingPairs>
  <TitlesOfParts>
    <vt:vector size="18" baseType="lpstr">
      <vt:lpstr>Nunito</vt:lpstr>
      <vt:lpstr>Maven Pro</vt:lpstr>
      <vt:lpstr>Arial</vt:lpstr>
      <vt:lpstr>Momentum</vt:lpstr>
      <vt:lpstr>Đề tài:  GAME VÒNG QUAY MAY MẮN</vt:lpstr>
      <vt:lpstr>Giới thiệu về vòng quay may mắn</vt:lpstr>
      <vt:lpstr>Mục tiêu của dự án</vt:lpstr>
      <vt:lpstr>Quy trình thực hiện</vt:lpstr>
      <vt:lpstr>Kết quả đạt được</vt:lpstr>
      <vt:lpstr>Kết quả đạt được</vt:lpstr>
      <vt:lpstr>Hạn chế của dự án</vt:lpstr>
      <vt:lpstr>Định hướng phát triển</vt:lpstr>
      <vt:lpstr>Câu hỏi thảo luận</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Thiện Nhân Huỳnh</cp:lastModifiedBy>
  <cp:revision>3</cp:revision>
  <dcterms:modified xsi:type="dcterms:W3CDTF">2025-12-01T14:39:21Z</dcterms:modified>
</cp:coreProperties>
</file>